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670" y="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ko-KR" altLang="en-US" sz="1000" b="0" i="0" u="none" strike="noStrike">
                <a:solidFill>
                  <a:srgbClr val="94A3B8"/>
                </a:solidFill>
                <a:latin typeface="Arial"/>
              </a:rPr>
              <a:t>연도별 인터넷 매출 </a:t>
            </a:r>
            <a:r>
              <a:rPr lang="en-US" altLang="ko-KR" sz="1000" b="0" i="0" u="none" strike="noStrike">
                <a:solidFill>
                  <a:srgbClr val="94A3B8"/>
                </a:solidFill>
                <a:latin typeface="Arial"/>
              </a:rPr>
              <a:t>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매출($M)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FF9-4691-84AC-2E44E002F3E2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F9-4691-84AC-2E44E002F3E2}"/>
              </c:ext>
            </c:extLst>
          </c:dPt>
          <c:dPt>
            <c:idx val="2"/>
            <c:invertIfNegative val="0"/>
            <c:bubble3D val="0"/>
            <c:spPr>
              <a:solidFill>
                <a:srgbClr val="4AE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F9-4691-84AC-2E44E002F3E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FY2018</c:v>
                </c:pt>
                <c:pt idx="1">
                  <c:v>FY2019</c:v>
                </c:pt>
                <c:pt idx="2">
                  <c:v>FY2020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7.57</c:v>
                </c:pt>
                <c:pt idx="1">
                  <c:v>6.15</c:v>
                </c:pt>
                <c:pt idx="2">
                  <c:v>15.64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FF9-4691-84AC-2E44E002F3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224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2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ko-KR" altLang="en-US" sz="1000" b="0" i="0" u="none" strike="noStrike">
                <a:solidFill>
                  <a:srgbClr val="94A3B8"/>
                </a:solidFill>
                <a:latin typeface="Arial"/>
              </a:rPr>
              <a:t>카테고리별 매출 비중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카테고리 매출 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E58-4355-A089-62A3937415A3}"/>
              </c:ext>
            </c:extLst>
          </c:dPt>
          <c:dPt>
            <c:idx val="1"/>
            <c:bubble3D val="0"/>
            <c:spPr>
              <a:solidFill>
                <a:srgbClr val="4AE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58-4355-A089-62A3937415A3}"/>
              </c:ext>
            </c:extLst>
          </c:dPt>
          <c:dPt>
            <c:idx val="2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58-4355-A089-62A3937415A3}"/>
              </c:ext>
            </c:extLst>
          </c:dPt>
          <c:dPt>
            <c:idx val="3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E58-4355-A089-62A3937415A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58-4355-A089-62A3937415A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58-4355-A089-62A3937415A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58-4355-A089-62A3937415A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58-4355-A089-62A3937415A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Bikes</c:v>
                </c:pt>
                <c:pt idx="1">
                  <c:v>Components</c:v>
                </c:pt>
                <c:pt idx="2">
                  <c:v>Clothing</c:v>
                </c:pt>
                <c:pt idx="3">
                  <c:v>Accessories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94.6</c:v>
                </c:pt>
                <c:pt idx="1">
                  <c:v>11.8</c:v>
                </c:pt>
                <c:pt idx="2">
                  <c:v>2.1</c:v>
                </c:pt>
                <c:pt idx="3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58-4355-A089-62A3937415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22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r>
              <a:rPr lang="ko-KR" altLang="en-US" sz="1000" b="0" i="0" u="none" strike="noStrike">
                <a:solidFill>
                  <a:srgbClr val="475569"/>
                </a:solidFill>
                <a:latin typeface="Arial"/>
              </a:rPr>
              <a:t>국가별 인터넷 매출 </a:t>
            </a:r>
            <a:r>
              <a:rPr lang="en-US" altLang="ko-KR" sz="1000" b="0" i="0" u="none" strike="noStrike">
                <a:solidFill>
                  <a:srgbClr val="475569"/>
                </a:solidFill>
                <a:latin typeface="Arial"/>
              </a:rPr>
              <a:t>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매출($M)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4FC-4289-A980-8F8285EF98AB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FC-4289-A980-8F8285EF98AB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4FC-4289-A980-8F8285EF98AB}"/>
              </c:ext>
            </c:extLst>
          </c:dPt>
          <c:dPt>
            <c:idx val="3"/>
            <c:invertIfNegative val="0"/>
            <c:bubble3D val="0"/>
            <c:spPr>
              <a:solidFill>
                <a:srgbClr val="028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4FC-4289-A980-8F8285EF98AB}"/>
              </c:ext>
            </c:extLst>
          </c:dPt>
          <c:dPt>
            <c:idx val="4"/>
            <c:invertIfNegative val="0"/>
            <c:bubble3D val="0"/>
            <c:spPr>
              <a:solidFill>
                <a:srgbClr val="4AE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4FC-4289-A980-8F8285EF98AB}"/>
              </c:ext>
            </c:extLst>
          </c:dPt>
          <c:dPt>
            <c:idx val="5"/>
            <c:invertIfNegative val="0"/>
            <c:bubble3D val="0"/>
            <c:spPr>
              <a:solidFill>
                <a:srgbClr val="00C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4FC-4289-A980-8F8285EF98A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Canada</c:v>
                </c:pt>
                <c:pt idx="1">
                  <c:v>France</c:v>
                </c:pt>
                <c:pt idx="2">
                  <c:v>Germany</c:v>
                </c:pt>
                <c:pt idx="3">
                  <c:v>UK</c:v>
                </c:pt>
                <c:pt idx="4">
                  <c:v>Australia</c:v>
                </c:pt>
                <c:pt idx="5">
                  <c:v>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1.98</c:v>
                </c:pt>
                <c:pt idx="1">
                  <c:v>2.64</c:v>
                </c:pt>
                <c:pt idx="2">
                  <c:v>2.89</c:v>
                </c:pt>
                <c:pt idx="3">
                  <c:v>3.39</c:v>
                </c:pt>
                <c:pt idx="4">
                  <c:v>9.06</c:v>
                </c:pt>
                <c:pt idx="5">
                  <c:v>9.39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4FC-4289-A980-8F8285EF98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94A3B8"/>
                </a:solidFill>
                <a:latin typeface="Arial"/>
              </a:rPr>
              <a:t>Classification -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중요도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avg_spend</c:v>
                </c:pt>
                <c:pt idx="1">
                  <c:v>total_qty</c:v>
                </c:pt>
                <c:pt idx="2">
                  <c:v>num_orders</c:v>
                </c:pt>
                <c:pt idx="3">
                  <c:v>country</c:v>
                </c:pt>
                <c:pt idx="4">
                  <c:v>discount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0.55600000000000005</c:v>
                </c:pt>
                <c:pt idx="1">
                  <c:v>0.42199999999999999</c:v>
                </c:pt>
                <c:pt idx="2">
                  <c:v>1.0999999999999999E-2</c:v>
                </c:pt>
                <c:pt idx="3">
                  <c:v>0.01</c:v>
                </c:pt>
                <c:pt idx="4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B-4568-B80C-B4F3216470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224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224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94A3B8"/>
                </a:solidFill>
                <a:latin typeface="Arial"/>
              </a:rPr>
              <a:t>Regression -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중요도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cat</c:v>
                </c:pt>
                <c:pt idx="1">
                  <c:v>month</c:v>
                </c:pt>
                <c:pt idx="2">
                  <c:v>reg</c:v>
                </c:pt>
                <c:pt idx="3">
                  <c:v>sub</c:v>
                </c:pt>
                <c:pt idx="4">
                  <c:v>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8.4000000000000005E-2</c:v>
                </c:pt>
                <c:pt idx="1">
                  <c:v>9.7000000000000003E-2</c:v>
                </c:pt>
                <c:pt idx="2">
                  <c:v>0.10100000000000001</c:v>
                </c:pt>
                <c:pt idx="3">
                  <c:v>0.185</c:v>
                </c:pt>
                <c:pt idx="4">
                  <c:v>0.53300000000000003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C9-41F0-892A-F106B8B138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224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711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kern="0" spc="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Analysis &amp; CRM Prediction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ko-KR" alt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앱프로그래밍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EDA + Random Forest Classification &amp; Regression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3657600" cy="36576"/>
          </a:xfrm>
          <a:prstGeom prst="rect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121,253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4015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18,485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34640" y="34015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34015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FY2018-2020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40880" y="34015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164592" cy="164592"/>
          </a:xfrm>
          <a:prstGeom prst="ellipse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440740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데이터 개요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14016" y="4206240"/>
            <a:ext cx="164592" cy="164592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276856" y="440740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전처리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096512" y="4206240"/>
            <a:ext cx="164592" cy="164592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59352" y="440740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EDA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79008" y="4206240"/>
            <a:ext cx="164592" cy="164592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41848" y="440740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예측 모델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61504" y="4206240"/>
            <a:ext cx="164592" cy="164592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24344" y="440740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결론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817842-2C2C-0CF4-2577-C70B080E6F5C}"/>
              </a:ext>
            </a:extLst>
          </p:cNvPr>
          <p:cNvSpPr txBox="1"/>
          <p:nvPr/>
        </p:nvSpPr>
        <p:spPr>
          <a:xfrm>
            <a:off x="7973295" y="163773"/>
            <a:ext cx="1160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2555015 </a:t>
            </a:r>
            <a:r>
              <a:rPr lang="ko-KR" altLang="en-US" sz="1100" dirty="0">
                <a:solidFill>
                  <a:schemeClr val="bg1"/>
                </a:solidFill>
              </a:rPr>
              <a:t>송정호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테이블로 구성된 AdventureWorks 데이터셋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1097280"/>
          </a:xfrm>
          <a:prstGeom prst="rect">
            <a:avLst/>
          </a:prstGeom>
          <a:solidFill>
            <a:srgbClr val="0D2240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54864" cy="109728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거래 테이블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121,253 rows  ·  15 cols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00" cy="1097280"/>
          </a:xfrm>
          <a:prstGeom prst="rect">
            <a:avLst/>
          </a:prstGeom>
          <a:solidFill>
            <a:srgbClr val="0D2240"/>
          </a:solidFill>
          <a:ln w="19050">
            <a:solidFill>
              <a:srgbClr val="4AE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54864" cy="1097280"/>
          </a:xfrm>
          <a:prstGeom prst="rect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83280" y="1371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6276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인적사항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8745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18,485 rows  ·  7 cols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743200" cy="1097280"/>
          </a:xfrm>
          <a:prstGeom prst="rect">
            <a:avLst/>
          </a:prstGeom>
          <a:solidFill>
            <a:srgbClr val="0D2240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54864" cy="109728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355080" y="1371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6276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카테고리/가격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18745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 rows  ·  9 cols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60320"/>
            <a:ext cx="2743200" cy="1097280"/>
          </a:xfrm>
          <a:prstGeom prst="rect">
            <a:avLst/>
          </a:prstGeom>
          <a:solidFill>
            <a:srgbClr val="0D2240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74320" y="2560320"/>
            <a:ext cx="54864" cy="109728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1480" y="2651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9077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회계연도/월 정보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154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1,461 rows  ·  7 cols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560320"/>
            <a:ext cx="2743200" cy="1097280"/>
          </a:xfrm>
          <a:prstGeom prst="rect">
            <a:avLst/>
          </a:prstGeom>
          <a:solidFill>
            <a:srgbClr val="0D2240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246120" y="2560320"/>
            <a:ext cx="54864" cy="10972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383280" y="2651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Territory_data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29077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지역/국가/그룹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154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rows  ·  4 cols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560320"/>
            <a:ext cx="2743200" cy="1097280"/>
          </a:xfrm>
          <a:prstGeom prst="rect">
            <a:avLst/>
          </a:prstGeom>
          <a:solidFill>
            <a:srgbClr val="0D2240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217920" y="2560320"/>
            <a:ext cx="54864" cy="10972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355080" y="2651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Reseller_data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29077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리셀러 정보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55080" y="3154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702 rows  ·  8 cols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840480"/>
            <a:ext cx="2743200" cy="1097280"/>
          </a:xfrm>
          <a:prstGeom prst="rect">
            <a:avLst/>
          </a:prstGeom>
          <a:solidFill>
            <a:srgbClr val="0D2240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74320" y="3840480"/>
            <a:ext cx="54864" cy="10972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11480" y="3931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SalesOrder_data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41879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구분 (Internet/Reseller)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4348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121,253 rows  ·  4 cols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" y="473659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KEY: SalesOrderLineKey · CustomerKey · ProductKey · SalesTerritoryKey · DateKey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· 이상치 · 중복 제거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115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제거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137160" cy="13716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8368" y="16733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ShipDateKey: 2,113건 결측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(배송 미완료 → 분석 제외 처리)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137160" cy="13716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8368" y="26791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Channel / Country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0건 결측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730752"/>
            <a:ext cx="137160" cy="13716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" y="368503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미상(CustomerKey = -1)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Reseller 채널 60,855건 별도 관리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18688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18688" y="1051560"/>
            <a:ext cx="2743200" cy="457200"/>
          </a:xfrm>
          <a:prstGeom prst="rect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55848" y="10789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21608" y="1115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제거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01568" y="1719072"/>
            <a:ext cx="137160" cy="137160"/>
          </a:xfrm>
          <a:prstGeom prst="ellipse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02736" y="16733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Amount ≤ 0 제거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(환불/오류 데이터)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01568" y="2724912"/>
            <a:ext cx="137160" cy="137160"/>
          </a:xfrm>
          <a:prstGeom prst="ellipse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02736" y="26791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ResellerKey = -1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인터넷 채널로 판별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01568" y="3730752"/>
            <a:ext cx="137160" cy="137160"/>
          </a:xfrm>
          <a:prstGeom prst="ellipse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02736" y="368503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극단값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IQR 분석으로 확인 후 유지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(정상 고가품 존재)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163056" y="1051560"/>
            <a:ext cx="2743200" cy="4572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300216" y="10789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65976" y="11155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중복·파생 처리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45936" y="1719072"/>
            <a:ext cx="137160" cy="13716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547104" y="16733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SalesOrderLineKey 기준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0건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45936" y="2724912"/>
            <a:ext cx="137160" cy="13716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47104" y="26791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DateKey → month_num(1-12)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extract로 파생변수 생성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45936" y="3730752"/>
            <a:ext cx="137160" cy="13716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547104" y="368503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유효 데이터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인터넷: 60,398건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전체: 121,253건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EDA — 전체 현황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매출 $109.8M  |  3개 회계연도  |  6개국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FY2018 ~ FY2020 인터넷 직판 채널 분석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65960" cy="105156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" y="1399032"/>
            <a:ext cx="196596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$29.4M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956816"/>
            <a:ext cx="196596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채널 총매출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325880"/>
            <a:ext cx="1965960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450592" y="1399032"/>
            <a:ext cx="196596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18,485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956816"/>
            <a:ext cx="196596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고객 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325880"/>
            <a:ext cx="1965960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26864" y="1399032"/>
            <a:ext cx="196596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$1,588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956816"/>
            <a:ext cx="196596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고객당 평균 구매액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03136" y="1325880"/>
            <a:ext cx="1965960" cy="10515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03136" y="1399032"/>
            <a:ext cx="196596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03136" y="1956816"/>
            <a:ext cx="196596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10% 고객 매출 비중</a:t>
            </a:r>
            <a:endParaRPr lang="en-US" sz="9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274320" y="256032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"/>
          <p:cNvGraphicFramePr/>
          <p:nvPr/>
        </p:nvGraphicFramePr>
        <p:xfrm>
          <a:off x="4663440" y="2560320"/>
          <a:ext cx="42062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EDA — 시간 × 공간 분석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언제, 어디서 팔리는가?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108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760720" y="1005840"/>
            <a:ext cx="45720" cy="82296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870448" y="10607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FY2020 급성장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70448" y="131673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FY2019 대비 +154%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月평균 1.3M → 2.6M 로 2배 성장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1965960"/>
            <a:ext cx="3108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760720" y="1965960"/>
            <a:ext cx="45720" cy="82296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870448" y="20208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미국·호주 양강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70448" y="227685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인터넷 매출의 62%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$9.4M vs 호주 $9.1M 초접전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2926080"/>
            <a:ext cx="31089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760720" y="2926080"/>
            <a:ext cx="45720" cy="82296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870448" y="29809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봄 시즌 피크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70448" y="323697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3~5월에 매출 집중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5월이 연중 최고 $1.95M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3977640"/>
            <a:ext cx="530352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11480" y="4023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Bikes 카테고리가 전체 매출의 86%를 차지하나, 건당 주문량은 Accessories(평균 7.4개)가 압도적으로 높음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Bikes는 고단가 소품목, Accessories는 저단가 다품목 전략이 필요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EDA — 고객 × 상품 (CRM)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누가, 무엇을 사는가?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관점의 고객 세분화 및 제품 연관 분석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3566160"/>
          </a:xfrm>
          <a:prstGeom prst="rect">
            <a:avLst/>
          </a:prstGeom>
          <a:solidFill>
            <a:srgbClr val="0D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구매 집중도 분석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3931920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세그먼트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7556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17556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기여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3931920" cy="475488"/>
          </a:xfrm>
          <a:prstGeom prst="rect">
            <a:avLst/>
          </a:prstGeom>
          <a:solidFill>
            <a:srgbClr val="1628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760" y="23042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10% 고객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3042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3042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40.3%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3931920" cy="47548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65760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25% 고객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61.7%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3931920" cy="475488"/>
          </a:xfrm>
          <a:prstGeom prst="rect">
            <a:avLst/>
          </a:prstGeom>
          <a:solidFill>
            <a:srgbClr val="1628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34015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중위 50% 고객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4015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34015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58768"/>
            <a:ext cx="3931920" cy="47548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65760" y="395020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25% 고객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395020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395020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453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파레토 법칙 확인: 상위 20% 고객이 전체 매출의 약 55% 견인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26280" y="1188720"/>
            <a:ext cx="4297680" cy="3566160"/>
          </a:xfrm>
          <a:prstGeom prst="rect">
            <a:avLst/>
          </a:prstGeom>
          <a:solidFill>
            <a:srgbClr val="0D2240"/>
          </a:solidFill>
          <a:ln w="12700">
            <a:solidFill>
              <a:srgbClr val="4AE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663440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구매 패턴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1664208"/>
            <a:ext cx="4206240" cy="713232"/>
          </a:xfrm>
          <a:prstGeom prst="rect">
            <a:avLst/>
          </a:prstGeom>
          <a:solidFill>
            <a:srgbClr val="1628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572000" y="1664208"/>
            <a:ext cx="54864" cy="713232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681728" y="1719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81728" y="19842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단가: $1,862  |  주문량: 1~2개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81728" y="21396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고소득·스포츠 매니아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2468880"/>
            <a:ext cx="4206240" cy="713232"/>
          </a:xfrm>
          <a:prstGeom prst="rect">
            <a:avLst/>
          </a:prstGeom>
          <a:solidFill>
            <a:srgbClr val="1628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572000" y="2468880"/>
            <a:ext cx="54864" cy="713232"/>
          </a:xfrm>
          <a:prstGeom prst="rect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681728" y="25237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81728" y="27889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단가: $342  |  주문량: 1~3개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81728" y="294436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DIY 정비파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3273552"/>
            <a:ext cx="4206240" cy="713232"/>
          </a:xfrm>
          <a:prstGeom prst="rect">
            <a:avLst/>
          </a:prstGeom>
          <a:solidFill>
            <a:srgbClr val="1628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572000" y="3273552"/>
            <a:ext cx="54864" cy="71323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681728" y="33284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81728" y="35935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단가: $37  |  주문량: 2~5개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81728" y="37490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라이프스타일 구매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0" y="4078224"/>
            <a:ext cx="4206240" cy="713232"/>
          </a:xfrm>
          <a:prstGeom prst="rect">
            <a:avLst/>
          </a:prstGeom>
          <a:solidFill>
            <a:srgbClr val="1628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572000" y="4078224"/>
            <a:ext cx="54864" cy="71323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681728" y="4133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681728" y="43982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단가: $19  |  주문량: 5~12개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81728" y="45537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소모품 반복구매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PREDICTION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기반 2가지 예측 모델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60520" cy="5029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0424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or Not Buy?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7632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구매 여부 (0/1)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13969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11480" y="22585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22585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avg_spend, qty, 주문수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discount_pct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3405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1480" y="28529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27632" y="28529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(n_estimators=100)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32841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27632" y="34472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(F1=1.00)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92277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40416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27632" y="4041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avg_spend_per_order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(45.6%)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00584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160520" cy="5029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46320" y="10424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5160" y="10424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1664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62472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Quantity (주문 수량)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13969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46320" y="22585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62472" y="22585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subcategory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channel, month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73405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46320" y="28529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62472" y="28529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(n_estimators=100)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32841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46320" y="34472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62472" y="34472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0.359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922776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46320" y="40416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62472" y="4041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(53.3%)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 (18.5%)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MODEL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모델 성능 및 주요 변수 중요도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8872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118872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822192"/>
            <a:ext cx="4114800" cy="1078992"/>
          </a:xfrm>
          <a:prstGeom prst="rect">
            <a:avLst/>
          </a:prstGeom>
          <a:solidFill>
            <a:srgbClr val="0D2240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274320" y="3822192"/>
            <a:ext cx="54864" cy="107899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38912" y="38770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모델 해석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38912" y="415137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평균 주문 금액(avg_spend)이 Bikes 구매를 결정짓는 핵심 변수. 단가가 높은 Bikes 특성상 구매력 있는 고객을 타겟팅하는 CRM 전략이 유효.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754880" y="3822192"/>
            <a:ext cx="4114800" cy="1078992"/>
          </a:xfrm>
          <a:prstGeom prst="rect">
            <a:avLst/>
          </a:prstGeom>
          <a:solidFill>
            <a:srgbClr val="0D2240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4754880" y="3822192"/>
            <a:ext cx="54864" cy="107899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4919472" y="38770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모델 해석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19472" y="415137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채널(53%)과 세부 카테고리(19%)가 주문량 예측의 핵심. R²=0.36은 '가격 외 요인'으로 주문량을 설명하는 한계를 보여줌 → 마케팅 활동 추가 필요.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CRM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기반 CRM 마케팅 전략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06240" cy="3840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84048" y="10881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1. 고가치 고객 Lock-in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99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10% (매출 40% 기여)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82880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신모델 우선 공개, 멤버십 혜택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1579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96112" y="215798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시 매출 충격 최대 → 유지 ROI 최고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36592" y="1024128"/>
            <a:ext cx="420624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36592" y="1024128"/>
            <a:ext cx="4206240" cy="38404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46320" y="10881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2. Accessories 교차판매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499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58384" y="149961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구매 고객 전원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58384" y="1828800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후 72h 이내 관련 Accessories 이메일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21579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58384" y="215798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피처: qty &amp; num_orders → 추가 구매 유도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420624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4206240" cy="384048"/>
          </a:xfrm>
          <a:prstGeom prst="rect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84048" y="2807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3. 봄 시즌 캠페인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32186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96112" y="321868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 3~5월 구매자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5478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96112" y="354787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초 Early Bird 할인, 번들 패키지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387705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96112" y="387705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 3~5월이 연중 Top 3 매출 기간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2743200"/>
            <a:ext cx="420624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736592" y="2743200"/>
            <a:ext cx="4206240" cy="38404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46320" y="2807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4. 미국·호주 집중 투자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2186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58384" y="3218688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US/AU 거주 고객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35478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58384" y="3547872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이벤트 연계 팝업, 무료 배송 프로모션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387705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58384" y="3877056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국가 합산 62% 매출 → 마케팅 집중 효율 극대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AE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및 한계점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2514600"/>
          </a:xfrm>
          <a:prstGeom prst="rect">
            <a:avLst/>
          </a:prstGeom>
          <a:solidFill>
            <a:srgbClr val="0D2240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solidFill>
            <a:srgbClr val="00C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84048" y="12161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25272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핵심 발견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Bikes가 매출 86% 차지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봄(3-5월) 피크 시즌 뚜렷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US·AU 양강 구도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파레토: 상위 10%가 40% 견인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88720"/>
            <a:ext cx="2743200" cy="2514600"/>
          </a:xfrm>
          <a:prstGeom prst="rect">
            <a:avLst/>
          </a:prstGeom>
          <a:solidFill>
            <a:srgbClr val="0D2240"/>
          </a:solidFill>
          <a:ln w="19050">
            <a:solidFill>
              <a:srgbClr val="4AE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18688" y="1188720"/>
            <a:ext cx="2743200" cy="457200"/>
          </a:xfrm>
          <a:prstGeom prst="rect">
            <a:avLst/>
          </a:prstGeom>
          <a:solidFill>
            <a:srgbClr val="4AED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28416" y="12161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13048" y="125272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모델 성과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28416" y="178308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분류(Buy/Not): Accuracy 100%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구매력(avg_spend)이 핵심 변수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회귀(판매량): R²=0.36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채널·서브카테고리가 주요 변수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2743200" cy="2514600"/>
          </a:xfrm>
          <a:prstGeom prst="rect">
            <a:avLst/>
          </a:prstGeom>
          <a:solidFill>
            <a:srgbClr val="0D2240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163056" y="1188720"/>
            <a:ext cx="2743200" cy="4572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72784" y="12161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57416" y="125272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전략 방향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2784" y="178308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고가치 고객 Lock-in 우선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구매자에 Accessories 교차판매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봄 시즌 Early Bird 캠페인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US·AU 집중 투자로 ROI 극대화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58768"/>
            <a:ext cx="8595360" cy="1005840"/>
          </a:xfrm>
          <a:prstGeom prst="rect">
            <a:avLst/>
          </a:prstGeom>
          <a:solidFill>
            <a:srgbClr val="1A2F4A"/>
          </a:solidFill>
          <a:ln w="12700">
            <a:solidFill>
              <a:srgbClr val="334D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9044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한계 및 개선 방향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879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분류 정확도 100%는 Unit Price 자체가 카테고리를 결정하는 구조적 한계(잠재적 data leakage) — 고객 행동 feature 강화 필요  ② 회귀 R²=0.36은 주문량에 영향하는 외부 변수(날씨·광고·재고) 미반영 — 추가 데이터 수집 권장  ③ Reseller 채널(60,855건)은 B2B 특성으로 인터넷 채널과 별도 분석 필요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1058</Words>
  <Application>Microsoft Office PowerPoint</Application>
  <PresentationFormat>화면 슬라이드 쇼(16:9)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AdventureWorks Sales Analysis</dc:title>
  <dc:subject>PptxGenJS Presentation</dc:subject>
  <dc:creator>PptxGenJS</dc:creator>
  <cp:lastModifiedBy>송정호</cp:lastModifiedBy>
  <cp:revision>2</cp:revision>
  <dcterms:created xsi:type="dcterms:W3CDTF">2026-06-09T01:07:56Z</dcterms:created>
  <dcterms:modified xsi:type="dcterms:W3CDTF">2026-06-10T14:13:19Z</dcterms:modified>
</cp:coreProperties>
</file>